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/>
            </a:pPr>
            <a:r>
              <a:t>PR-AUC by prediction horizon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4F46E5"/>
            </a:solidFill>
          </c:spPr>
          <c:cat>
            <c:strRef>
              <c:f>Sheet1!$A$2:$A$5</c:f>
              <c:strCache>
                <c:ptCount val="4"/>
                <c:pt idx="0">
                  <c:v>15 min</c:v>
                </c:pt>
                <c:pt idx="1">
                  <c:v>30 min</c:v>
                </c:pt>
                <c:pt idx="2">
                  <c:v>60 min</c:v>
                </c:pt>
                <c:pt idx="3">
                  <c:v>90 min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0.7834</c:v>
                </c:pt>
                <c:pt idx="1">
                  <c:v>0.8337</c:v>
                </c:pt>
                <c:pt idx="2">
                  <c:v>0.8767</c:v>
                </c:pt>
                <c:pt idx="3">
                  <c:v>0.8929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/>
            </a:pPr>
            <a:r>
              <a:t>Current fitted weights (ADR-023)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22C55E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EF4444"/>
              </a:solidFill>
            </c:spPr>
          </c:dPt>
          <c:cat>
            <c:strRef>
              <c:f>Sheet1!$A$2:$A$5</c:f>
              <c:strCache>
                <c:ptCount val="4"/>
                <c:pt idx="0">
                  <c:v>Hotspot prob.</c:v>
                </c:pt>
                <c:pt idx="1">
                  <c:v>Predicted count</c:v>
                </c:pt>
                <c:pt idx="2">
                  <c:v>Persistence</c:v>
                </c:pt>
                <c:pt idx="3">
                  <c:v>Recent intensity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0.02</c:v>
                </c:pt>
                <c:pt idx="1">
                  <c:v>0.701</c:v>
                </c:pt>
                <c:pt idx="2">
                  <c:v>0.147</c:v>
                </c:pt>
                <c:pt idx="3">
                  <c:v>0.131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/>
            </a:pPr>
            <a:r>
              <a:t>Spatial holdout drop — two rounds of fixes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PR-AUC drop %</c:v>
                </c:pt>
              </c:strCache>
            </c:strRef>
          </c:tx>
          <c:spPr>
            <a:solidFill>
              <a:srgbClr val="4F46E5"/>
            </a:solidFill>
          </c:spPr>
          <c:dPt>
            <c:idx val="0"/>
            <c:spPr>
              <a:solidFill>
                <a:srgbClr val="B45309"/>
              </a:solidFill>
            </c:spPr>
          </c:dPt>
          <c:dPt>
            <c:idx val="1"/>
            <c:spPr>
              <a:solidFill>
                <a:srgbClr val="4F46E5"/>
              </a:solidFill>
            </c:spPr>
          </c:dPt>
          <c:dPt>
            <c:idx val="2"/>
            <c:spPr>
              <a:solidFill>
                <a:srgbClr val="15803D"/>
              </a:solidFill>
            </c:spPr>
          </c:dPt>
          <c:cat>
            <c:strRef>
              <c:f>Sheet1!$A$2:$A$4</c:f>
              <c:strCache>
                <c:ptCount val="3"/>
                <c:pt idx="0">
                  <c:v>Original
(frozen)</c:v>
                </c:pt>
                <c:pt idx="1">
                  <c:v>ADR-022
(neighbor feats)</c:v>
                </c:pt>
                <c:pt idx="2">
                  <c:v>ADR-025
(regularization)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7.88</c:v>
                </c:pt>
                <c:pt idx="1">
                  <c:v>6.32</c:v>
                </c:pt>
                <c:pt idx="2">
                  <c:v>5.66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/>
            </a:pPr>
            <a:r>
              <a:t>Drop % vs. tree depth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PR-AUC drop %</c:v>
                </c:pt>
              </c:strCache>
            </c:strRef>
          </c:tx>
          <c:spPr>
            <a:solidFill>
              <a:srgbClr val="4F46E5"/>
            </a:solidFill>
          </c:spPr>
          <c:dPt>
            <c:idx val="0"/>
            <c:spPr>
              <a:solidFill>
                <a:srgbClr val="B45309"/>
              </a:solidFill>
            </c:spPr>
          </c:dPt>
          <c:dPt>
            <c:idx val="1"/>
            <c:spPr>
              <a:solidFill>
                <a:srgbClr val="15803D"/>
              </a:solidFill>
            </c:spPr>
          </c:dPt>
          <c:dPt>
            <c:idx val="2"/>
            <c:spPr>
              <a:solidFill>
                <a:srgbClr val="4F46E5"/>
              </a:solidFill>
            </c:spPr>
          </c:dPt>
          <c:dPt>
            <c:idx val="3"/>
            <c:spPr>
              <a:solidFill>
                <a:srgbClr val="4F46E5"/>
              </a:solidFill>
            </c:spPr>
          </c:dPt>
          <c:cat>
            <c:strRef>
              <c:f>Sheet1!$A$2:$A$5</c:f>
              <c:strCache>
                <c:ptCount val="4"/>
                <c:pt idx="0">
                  <c:v>depth=6
(baseline)</c:v>
                </c:pt>
                <c:pt idx="1">
                  <c:v>depth=3
(adopted)</c:v>
                </c:pt>
                <c:pt idx="2">
                  <c:v>depth=2</c:v>
                </c:pt>
                <c:pt idx="3">
                  <c:v>depth=1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6.32</c:v>
                </c:pt>
                <c:pt idx="1">
                  <c:v>5.66</c:v>
                </c:pt>
                <c:pt idx="2">
                  <c:v>5.54</c:v>
                </c:pt>
                <c:pt idx="3">
                  <c:v>5.27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/>
            </a:pPr>
            <a:r>
              <a:t>Live risk-band distribution (2,534 cells)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22C55E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LOW</c:v>
                </c:pt>
                <c:pt idx="1">
                  <c:v>MEDIUM</c:v>
                </c:pt>
                <c:pt idx="2">
                  <c:v>HIGH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94.2</c:v>
                </c:pt>
                <c:pt idx="1">
                  <c:v>5.5</c:v>
                </c:pt>
                <c:pt idx="2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Parking Intelligence — Decision Support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7D2FE"/>
                </a:solidFill>
              </a:rPr>
              <a:t>AI-Driven Illegal-Parking Hotspot Detection &amp; Traffic-Impact Quantification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Bengaluru Traffic Police · 298,450 real violation records · Zero external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Internal-data-only (ADR-001) · No Maps/external APIs used, per competition rules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7D2FE"/>
                </a:solidFill>
              </a:rPr>
              <a:t>Why reactive enforcement isn't enough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• 298,450 violations logged over ~5 months, Bengaluru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• Enforcement today is reactive — ticket after the fact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• No system predicts tomorrow's hotspot, only logs today's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• Constraint: only the provided dataset — no Maps/external APIs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14800"/>
            <a:ext cx="2606040" cy="11887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2606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46E5"/>
                </a:solidFill>
              </a:rPr>
              <a:t>298,450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Total violation rows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4114800"/>
            <a:ext cx="2606040" cy="11887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4206240"/>
            <a:ext cx="2606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46E5"/>
                </a:solidFill>
              </a:rPr>
              <a:t>24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Raw schema columns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188720"/>
            <a:ext cx="5212080" cy="50292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</a:rPr>
              <a:t>Raw schema (24 columns)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675120" y="1737360"/>
          <a:ext cx="47548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</a:tblGrid>
              <a:tr h="61395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Fields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Identity / location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id, latitude, longitude, location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Vehicle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vehicle_number, vehicle_type, updated_vehicle_number/type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Violation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description, violation_type, offence_code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Timestamps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created/closed/modified_datetime, action_taken_timestamp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Org / device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device_id, created_by_id, center_code, police_station,</a:t>
                      </a:r>
                    </a:p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junction_name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SCITA / validation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data_sent_to_scita(_timestamp), validation_status(_timestamp)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7D2FE"/>
                </a:solidFill>
              </a:rPr>
              <a:t>End-to-end pipeline, ingestion to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1783080" cy="137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Raw CSV
298,450 rows</a:t>
            </a:r>
          </a:p>
          <a:p>
            <a:pPr algn="ctr"/>
            <a:r>
              <a:rPr sz="950">
                <a:solidFill>
                  <a:srgbClr val="E2E8F0"/>
                </a:solidFill>
              </a:rPr>
              <a:t>Validate,
dedupe, 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965960"/>
            <a:ext cx="137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463040"/>
            <a:ext cx="178308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1554480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Feature
Engineering</a:t>
            </a:r>
          </a:p>
          <a:p>
            <a:pPr algn="ctr"/>
            <a:r>
              <a:rPr sz="950">
                <a:solidFill>
                  <a:srgbClr val="E2E8F0"/>
                </a:solidFill>
              </a:rPr>
              <a:t>H3 grid, rolling
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1965960"/>
            <a:ext cx="137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463040"/>
            <a:ext cx="1783080" cy="137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554480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 Models</a:t>
            </a:r>
          </a:p>
          <a:p>
            <a:pPr algn="ctr"/>
            <a:r>
              <a:rPr sz="950">
                <a:solidFill>
                  <a:srgbClr val="E2E8F0"/>
                </a:solidFill>
              </a:rPr>
              <a:t>CatBoost / LightGBM
/ XGBoost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65960"/>
            <a:ext cx="137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463040"/>
            <a:ext cx="178308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554480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Risk Score
Engine</a:t>
            </a:r>
          </a:p>
          <a:p>
            <a:pPr algn="ctr"/>
            <a:r>
              <a:rPr sz="950">
                <a:solidFill>
                  <a:srgbClr val="E2E8F0"/>
                </a:solidFill>
              </a:rPr>
              <a:t>Ridge-NNLS
fit weights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1965960"/>
            <a:ext cx="137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1463040"/>
            <a:ext cx="1783080" cy="137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1554480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FastAPI
Serving</a:t>
            </a:r>
          </a:p>
          <a:p>
            <a:pPr algn="ctr"/>
            <a:r>
              <a:rPr sz="950">
                <a:solidFill>
                  <a:srgbClr val="E2E8F0"/>
                </a:solidFill>
              </a:rPr>
              <a:t>/forecast /alerts
/metrics /admin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1965960"/>
            <a:ext cx="137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66960" y="1463040"/>
            <a:ext cx="178308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12680" y="1554480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Next.js
Dashboard</a:t>
            </a:r>
          </a:p>
          <a:p>
            <a:pPr algn="ctr"/>
            <a:r>
              <a:rPr sz="950">
                <a:solidFill>
                  <a:srgbClr val="E2E8F0"/>
                </a:solidFill>
              </a:rPr>
              <a:t>Map, forecast,
analytics, admin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320040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What it does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Retraining loop (ADR-024)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Upload → PENDING staging → review approve/reject → merge → explicit Retrain → hot-reload, zero downtime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Deployment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Docker image → Docker Hub → Hugging Face Space (API) + Vercel (frontend, auto-deploy on push)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Admin security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X-Admin-Token header; 503 if unconfigured, 401 if wrong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7D2FE"/>
                </a:solidFill>
              </a:rPr>
              <a:t>Leakage-safe, spatial + temporal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65836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023360"/>
                <a:gridCol w="640080"/>
              </a:tblGrid>
              <a:tr h="61722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Examples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Spatial density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hotspot_frequency, violation_density,</a:t>
                      </a:r>
                    </a:p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junction_density, police_station_density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Neighbor-averaged</a:t>
                      </a:r>
                    </a:p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(ADR-022)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ring-1 H3 neighbor avg of each</a:t>
                      </a:r>
                    </a:p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density/intensity feature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Temporal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hour, weekday, is_weekend,</a:t>
                      </a:r>
                    </a:p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hour_sin/cos, is_peak_hour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Rolling counts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violations_last_15/30/60m,</a:t>
                      </a:r>
                    </a:p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same_hour_previous_day, rolling_intensity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Historical risk priors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junction/offence/vehicle_type/</a:t>
                      </a:r>
                    </a:p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center_code_historical_risk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Data-quality flags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is_outlier_coordinate,</a:t>
                      </a:r>
                    </a:p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is_duplicate_vehicle_event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Categorical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junction_name, police_station, center_code,</a:t>
                      </a:r>
                    </a:p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vehicle_type, offence_code, violation_type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1188720"/>
            <a:ext cx="4343400" cy="49377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3258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</a:rPr>
              <a:t>Leakage-safety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250">
                <a:solidFill>
                  <a:srgbClr val="334155"/>
                </a:solidFill>
              </a:defRPr>
            </a:pPr>
            <a:r>
              <a:t>• Every rolling feature uses an expanding,</a:t>
            </a:r>
            <a:br/>
            <a:r>
              <a:t>strictly-past-only window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250">
                <a:solidFill>
                  <a:srgbClr val="334155"/>
                </a:solidFill>
              </a:defRPr>
            </a:pPr>
            <a:r>
              <a:t>• merge_asof(direction="backward") for</a:t>
            </a:r>
            <a:br/>
            <a:r>
              <a:t>every spatial/temporal join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250">
                <a:solidFill>
                  <a:srgbClr val="334155"/>
                </a:solidFill>
              </a:defRPr>
            </a:pPr>
            <a:r>
              <a:t>• h3_cell/geohash dropped as direct model</a:t>
            </a:r>
            <a:br/>
            <a:r>
              <a:t>inputs — kept only for serving lookups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250">
                <a:solidFill>
                  <a:srgbClr val="334155"/>
                </a:solidFill>
              </a:defRPr>
            </a:pPr>
            <a:r>
              <a:t>• Phase 4 feature lock deliberately</a:t>
            </a:r>
            <a:br/>
            <a:r>
              <a:t>un-frozen once retraining became</a:t>
            </a:r>
            <a:br/>
            <a:r>
              <a:t>possible (ADR-022)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Modeling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7D2FE"/>
                </a:solidFill>
              </a:rPr>
              <a:t>3 gradient-boosted models, 2 tasks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5943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51560"/>
                <a:gridCol w="1051560"/>
                <a:gridCol w="1051560"/>
                <a:gridCol w="105156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PR-AUC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CatBoost (winner)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0.8767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0.7316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0.9620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0.8311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0.8649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0.7351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0.9505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0.8290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0.8632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0.7245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0.9567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0.8246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7889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Operating threshold: 0.15 (cost-aware — favors recall)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246120"/>
          <a:ext cx="5943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371600"/>
                <a:gridCol w="1463040"/>
              </a:tblGrid>
              <a:tr h="3429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Count regression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MAE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CatBoost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5.92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10.58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0.271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6.02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10.92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0.223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6.24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11.18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0.186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675120" y="1143000"/>
          <a:ext cx="50292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754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</a:rPr>
              <a:t>Calibration test (Platt/Isotonic): &lt;5% Brier improvement over raw probabilities — rejected, not adopted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</a:rPr>
              <a:t>PR-AUC rises monotonically with horizon length — confirms the model uses real temporal accumulation, not noise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Congestion Risk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7D2FE"/>
                </a:solidFill>
              </a:rPr>
              <a:t>A derived score, not a new ML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6400800" cy="1417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risk_score = 100 × Σ wᵢ · componentᵢ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200">
                <a:solidFill>
                  <a:srgbClr val="E2E8F0"/>
                </a:solidFill>
              </a:defRPr>
            </a:pPr>
            <a:r>
              <a:t>• hotspot_probability + normalized_predicted_count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200">
                <a:solidFill>
                  <a:srgbClr val="E2E8F0"/>
                </a:solidFill>
              </a:defRPr>
            </a:pPr>
            <a:r>
              <a:t>• + persistence + recent_intensity  (all 0–1 scaled)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• Originally hand-picked: 0.40 / 0.30 / 0.20 / 0.10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• Plain NNLS collapsed to 100% on one component (tautological target leakage)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• Fix: ridge-regularized NNLS — solve [X; √α·I]β ≈ [y; 0], sweep α, pick smallest α with max weight ≤ 75%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• Refit automatically on every retrain — no frozen constants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040880" y="1188720"/>
          <a:ext cx="46634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846320"/>
            <a:ext cx="3108960" cy="11887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9377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46E5"/>
                </a:solidFill>
              </a:rPr>
              <a:t>50 / 85 / 97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Band cutoffs
(percentile of train risk scores)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4846320"/>
            <a:ext cx="3108960" cy="11887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49377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46E5"/>
                </a:solidFill>
              </a:rPr>
              <a:t>4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Bands: LOW / MEDIUM
/ HIGH / CRITICAL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4846320"/>
            <a:ext cx="4663440" cy="11887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493776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46E5"/>
                </a:solidFill>
              </a:rPr>
              <a:t>target_count_60m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Outcome proxy used for fitting
(no ground-truth congestion data exists)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Spatial Generalization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7D2FE"/>
                </a:solidFill>
              </a:rPr>
              <a:t>Does the model work on geography it's never seen?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</a:rPr>
              <a:t>Methodology: split H3 cells (not rows) into 1,824 train cells / 455 holdout cells, entirely unseen during training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697480" cy="109728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46E5"/>
                </a:solidFill>
              </a:rPr>
              <a:t>0.8796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Seen-cell PR-AUC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737360"/>
            <a:ext cx="2697480" cy="109728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82880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46E5"/>
                </a:solidFill>
              </a:rPr>
              <a:t>0.8298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Unseen-cell PR-AUC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737360"/>
            <a:ext cx="2697480" cy="109728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B45309"/>
                </a:solidFill>
              </a:rPr>
              <a:t>5.66%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PR-AUC drop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737360"/>
            <a:ext cx="2697480" cy="109728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82880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5803D"/>
                </a:solidFill>
              </a:rPr>
              <a:t>94.3%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Accuracy retained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57200" y="3017520"/>
          <a:ext cx="54864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263640" y="3017520"/>
          <a:ext cx="5394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023360"/>
              </a:tblGrid>
              <a:tr h="621792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Change made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Original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Raw h3_cell/geohash kept as categorical inputs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ADR-022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Dropped cell identity, added 6 neighbor-averaged density features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ADR-025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Regularization sweep: depth 6→3, l2_leaf_reg 3→25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Net result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~28% relative improvement, still above the 5% bar — disclosed honestly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Hyperparameter Sweep (ADR-025)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7D2FE"/>
                </a:solidFill>
              </a:rPr>
              <a:t>Overfitting problem, not a feature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334155"/>
                </a:solidFill>
              </a:rPr>
              <a:t>~15 configs swept (depth, l2_leaf_reg, learning_rate, iterations, rsm, bagging, random_strength) against the same spatial holdout test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91640"/>
          <a:ext cx="576072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691640"/>
          <a:ext cx="5257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97280"/>
                <a:gridCol w="1143000"/>
                <a:gridCol w="1097280"/>
              </a:tblGrid>
              <a:tr h="658368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Seen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Unseen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Cost?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depth=6, l2=3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0.8792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0.8237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depth=3, l2=25 ✓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0.8796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0.8298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None — wins both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depth=2, l2=40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0.8765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0.8280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Small accuracy loss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depth=1, l2=25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0.8727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0.8268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334155"/>
                          </a:solidFill>
                        </a:defRPr>
                      </a:pPr>
                      <a:r>
                        <a:t>Real accuracy loss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25780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• depth=3/l2=25 improves BOTH seen and unseen accuracy at once — a strict win, not a tradeoff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• Pushing shallower trades real accuracy for diminishing spatial gains — none crossed the 5% bar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Retraining Pipeline &amp; Review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7D2FE"/>
                </a:solidFill>
              </a:rPr>
              <a:t>Closing the "frozen model" gap (ADR-024)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1554480" cy="1280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" y="1481328"/>
            <a:ext cx="14813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</a:rPr>
              <a:t>Police
upload CSV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371600"/>
            <a:ext cx="1554480" cy="1280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02536" y="1481328"/>
            <a:ext cx="14813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</a:rPr>
              <a:t>PENDING
staging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1371600"/>
            <a:ext cx="1554480" cy="1280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8456" y="1481328"/>
            <a:ext cx="14813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</a:rPr>
              <a:t>Reviewer
approve/reject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1371600"/>
            <a:ext cx="1554480" cy="1280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94376" y="1481328"/>
            <a:ext cx="14813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</a:rPr>
              <a:t>Merge into
master dataset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1371600"/>
            <a:ext cx="1554480" cy="1280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0296" y="1481328"/>
            <a:ext cx="14813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</a:rPr>
              <a:t>Explicit
Retrain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371600"/>
            <a:ext cx="1554480" cy="1280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86216" y="1481328"/>
            <a:ext cx="14813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</a:rPr>
              <a:t>Pipeline
re-runs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95560" y="1371600"/>
            <a:ext cx="1554480" cy="1280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2136" y="1481328"/>
            <a:ext cx="14813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</a:rPr>
              <a:t>Hot-reload
(zero downtime)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292608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Responsibility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staging_store.py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Owns PENDING → APPROVED/REJECTED lifecycle; reuses raw_store's merge logic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raw_store.py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Owns the master CSV — schema validation, dedupe by id, append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retrain.py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Archives prior ml/models/ by timestamp, then runs features → train → risk-weight fit → spatial holdout → alerts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Admin dashboard tab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Token field, CSV upload, staging review table, Retrain Now button with live job polling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Disclosed limitation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</a:defRPr>
                      </a:pPr>
                      <a:r>
                        <a:t>Ephemeral-filesystem hosts without a persistent volume lose data on redeploy — infra decision, not a code gap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API Surface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7D2FE"/>
                </a:solidFill>
              </a:rPr>
              <a:t>FastAPI backend, Next.js frontend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5760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Public endpoint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GET /health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Schema validity, row count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GET /forecast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Per-cell/coordinate prediction + risk band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GET /alerts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Ranked GREEN/YELLOW/ORANGE/RED alerts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GET /metrics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Model + spatial + risk-distribution stats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GET /replay/{scenario}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Real historical event replay for demos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749039"/>
          <a:ext cx="5760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</a:tblGrid>
              <a:tr h="4343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Admin endpoint (token-guarded)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POST /admin/staging/upload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Stage a new CSV as PENDING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POST /admin/staging/{id}/approve|reject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Review decision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POST /admin/retrain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</a:defRPr>
                      </a:pPr>
                      <a:r>
                        <a:t>Trigger background retraining job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92240" y="1143000"/>
            <a:ext cx="5166360" cy="521208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</a:rPr>
              <a:t>Deployment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• Backend: Docker image → Docker Hub →</a:t>
            </a:r>
            <a:br/>
            <a:r>
              <a:t>Hugging Face Space (Docker SDK)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• Frontend: Next.js 14 + Tailwind + Leaflet</a:t>
            </a:r>
            <a:br/>
            <a:r>
              <a:t>+ Recharts → Vercel (auto-deploy on push)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• CORS tightened to real origins (was *)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• NEXT_PUBLIC_API_BASE_URL env var points</a:t>
            </a:r>
            <a:br/>
            <a:r>
              <a:t>the frontend at the live HF Space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• Async retrain via FastAPI BackgroundTasks</a:t>
            </a:r>
            <a:br/>
            <a:r>
              <a:t>(no Celery/APScheduler — kept simple)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Known Limitations — Disclosed, Not Hidden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7D2FE"/>
                </a:solidFill>
              </a:rPr>
              <a:t>Honesty over a fabricated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1556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64008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Limitation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Spatial holdout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FAIL by the 5% bar — 5.66% drop, improved from 7.88%, not eliminated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Risk weights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Data-driven PROXY fit (target_count_60m) — no ground-truth congestion data exists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Enforcement timestamps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closed_datetime / action_taken_timestamp 100% missing in this extract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Data window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Single 5-month window (Nov 2023 – Apr 2024) — seasonality untested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Live streaming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None — latest historical snapshot per cell, not real-time; Kafka is the next step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Retraining persistence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Doesn't survive ephemeral redeploys without a persistent volume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Cold-start geography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334155"/>
                          </a:solidFill>
                        </a:defRPr>
                      </a:pPr>
                      <a:r>
                        <a:t>New H3 cells return a conservative default with an explicit flag, never a fabrication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Results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7D2FE"/>
                </a:solidFill>
              </a:rPr>
              <a:t>What this system actually delivers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606040" cy="1143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606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46E5"/>
                </a:solidFill>
              </a:rPr>
              <a:t>298,450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Violations processed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34440"/>
            <a:ext cx="2606040" cy="1143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2606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46E5"/>
                </a:solidFill>
              </a:rPr>
              <a:t>2,534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H3 cells, live predictions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234440"/>
            <a:ext cx="2606040" cy="1143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325880"/>
            <a:ext cx="2606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46E5"/>
                </a:solidFill>
              </a:rPr>
              <a:t>0.8767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Best val PR-AUC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234440"/>
            <a:ext cx="3017520" cy="1143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325880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5803D"/>
                </a:solidFill>
              </a:rPr>
              <a:t>78 / 78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Backend tests passing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2606040" cy="1143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2606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5803D"/>
                </a:solidFill>
              </a:rPr>
              <a:t>94.3%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Spatial accuracy retained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514600"/>
            <a:ext cx="2606040" cy="1143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2606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5803D"/>
                </a:solidFill>
              </a:rPr>
              <a:t>PASS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Spatial abstraction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2514600"/>
            <a:ext cx="2606040" cy="1143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2606040"/>
            <a:ext cx="2606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46E5"/>
                </a:solidFill>
              </a:rPr>
              <a:t>0.15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Operating threshold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2514600"/>
            <a:ext cx="3017520" cy="1143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2606040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5803D"/>
                </a:solidFill>
              </a:rPr>
              <a:t>0%</a:t>
            </a:r>
          </a:p>
          <a:p>
            <a:pPr algn="ctr"/>
            <a:r>
              <a:rPr sz="1050">
                <a:solidFill>
                  <a:srgbClr val="334155"/>
                </a:solidFill>
              </a:rPr>
              <a:t>External data used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3886200"/>
          <a:ext cx="50292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760720" y="3886200"/>
          <a:ext cx="58521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</a:tblGrid>
              <a:tr h="6629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Verification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 marT="25400" marB="25400">
                    <a:solidFill>
                      <a:srgbClr val="0F172A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Retraining cycles run end-to-end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3 (features, weights, hyperparameters)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Spatial holdout re-checked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Before and after each change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Numbers in this deck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4155"/>
                          </a:solidFill>
                        </a:defRPr>
                      </a:pPr>
                      <a:r>
                        <a:t>Read from /metrics + spatial_holdout_result.json, not hand-typed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